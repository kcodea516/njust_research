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9675" cy="10691813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6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2668" y="36"/>
      </p:cViewPr>
      <p:guideLst>
        <p:guide orient="horz" pos="3386"/>
        <p:guide pos="23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743350" y="1425600"/>
            <a:ext cx="6076276" cy="400739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6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743350" y="5550860"/>
            <a:ext cx="6076276" cy="229555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85" spc="200">
                <a:uFillTx/>
              </a:defRPr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3870" indent="0" algn="ctr">
              <a:buNone/>
              <a:defRPr sz="1325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56" y="948529"/>
            <a:ext cx="6801768" cy="11000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77256" y="2323616"/>
            <a:ext cx="6801768" cy="741985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34453" y="5999868"/>
            <a:ext cx="4817268" cy="119548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4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234453" y="7195351"/>
            <a:ext cx="4817268" cy="135263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782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38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56" y="948529"/>
            <a:ext cx="6801768" cy="11000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377256" y="2340453"/>
            <a:ext cx="3210024" cy="740301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975697" y="2340453"/>
            <a:ext cx="3210024" cy="740301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56" y="948529"/>
            <a:ext cx="6801768" cy="11000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77256" y="2228202"/>
            <a:ext cx="3312709" cy="5949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77256" y="2890488"/>
            <a:ext cx="3312709" cy="685298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3866656" y="2216554"/>
            <a:ext cx="3312709" cy="59493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3866656" y="2890488"/>
            <a:ext cx="3312709" cy="685298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56" y="948529"/>
            <a:ext cx="6801768" cy="110006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377212" y="2424510"/>
            <a:ext cx="3244894" cy="718443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3937748" y="2424642"/>
            <a:ext cx="3241276" cy="718412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6346382" y="1425600"/>
            <a:ext cx="647362" cy="7840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1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567000" y="1425600"/>
            <a:ext cx="5685626" cy="7840800"/>
          </a:xfrm>
        </p:spPr>
        <p:txBody>
          <a:bodyPr vert="eaVert" lIns="46800" tIns="46800" rIns="46800" bIns="46800"/>
          <a:lstStyle>
            <a:lvl1pPr marL="189230" indent="-189230">
              <a:spcAft>
                <a:spcPts val="1000"/>
              </a:spcAft>
              <a:defRPr spc="300"/>
            </a:lvl1pPr>
            <a:lvl2pPr marL="567055" indent="-189230">
              <a:defRPr spc="300"/>
            </a:lvl2pPr>
            <a:lvl3pPr marL="944880" indent="-189230">
              <a:defRPr spc="300"/>
            </a:lvl3pPr>
            <a:lvl4pPr marL="1322705" indent="-189230">
              <a:defRPr spc="300"/>
            </a:lvl4pPr>
            <a:lvl5pPr marL="1701165" indent="-1892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377256" y="1206709"/>
            <a:ext cx="6804000" cy="85479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743350" y="3872693"/>
            <a:ext cx="6076276" cy="1588365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6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743350" y="5550860"/>
            <a:ext cx="6076276" cy="73525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377256" y="948529"/>
            <a:ext cx="6801768" cy="1100069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377256" y="2323616"/>
            <a:ext cx="6801768" cy="74198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379488" y="9844497"/>
            <a:ext cx="1674213" cy="493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2552244" y="9844497"/>
            <a:ext cx="2455512" cy="493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5504811" y="9844497"/>
            <a:ext cx="1674213" cy="493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6285" rtl="0" eaLnBrk="1" fontAlgn="auto" latinLnBrk="0" hangingPunct="1">
        <a:lnSpc>
          <a:spcPct val="100000"/>
        </a:lnSpc>
        <a:spcBef>
          <a:spcPct val="0"/>
        </a:spcBef>
        <a:buNone/>
        <a:defRPr sz="297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4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6705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30960" algn="l"/>
          <a:tab pos="1330960" algn="l"/>
          <a:tab pos="1330960" algn="l"/>
          <a:tab pos="1330960" algn="l"/>
        </a:tabLst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44880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2270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0116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387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229359" y="1005692"/>
            <a:ext cx="510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2005.5  |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中共预备党员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0495" y="2371090"/>
            <a:ext cx="7185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80035" y="1648460"/>
            <a:ext cx="7882255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南京理工大学</a:t>
            </a:r>
            <a:r>
              <a:rPr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211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、双一流</a:t>
            </a:r>
            <a:r>
              <a:rPr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计算机科学与工程</a:t>
            </a:r>
            <a:r>
              <a:rPr sz="12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学院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.09-至今</a:t>
            </a:r>
          </a:p>
          <a:p>
            <a:pPr algn="l" fontAlgn="auto">
              <a:lnSpc>
                <a:spcPct val="130000"/>
              </a:lnSpc>
            </a:pP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CET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/CET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557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GPA: 3.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/4          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综合排名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（专业前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2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核心课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计算机组成原理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(93)      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(97)      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概率论与统计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(97)       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(92) 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7964" y="2671154"/>
            <a:ext cx="7079615" cy="2516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+mj-ea"/>
                <a:ea typeface="+mj-ea"/>
              </a:rPr>
              <a:t>1.</a:t>
            </a:r>
            <a:r>
              <a:rPr lang="zh-CN" altLang="en-US" sz="1400" b="1" dirty="0">
                <a:latin typeface="+mj-ea"/>
                <a:ea typeface="+mj-ea"/>
              </a:rPr>
              <a:t> </a:t>
            </a:r>
            <a:r>
              <a:rPr lang="en-US" altLang="zh-CN" sz="1400" b="1" dirty="0"/>
              <a:t>FG-BMK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LVLM </a:t>
            </a:r>
            <a:r>
              <a:rPr lang="zh-CN" altLang="en-US" sz="1400" b="1" dirty="0"/>
              <a:t>细粒度评测复现与 </a:t>
            </a:r>
            <a:r>
              <a:rPr lang="en-US" altLang="zh-CN" sz="1400" b="1" dirty="0" err="1"/>
              <a:t>LLaVA</a:t>
            </a:r>
            <a:r>
              <a:rPr lang="en-US" altLang="zh-CN" sz="1400" b="1" dirty="0"/>
              <a:t> Projector </a:t>
            </a:r>
            <a:r>
              <a:rPr lang="zh-CN" altLang="en-US" sz="1400" b="1" dirty="0"/>
              <a:t>对齐分析</a:t>
            </a:r>
            <a:r>
              <a:rPr lang="zh-CN" altLang="en-US" sz="1200" dirty="0"/>
              <a:t> </a:t>
            </a:r>
            <a:r>
              <a:rPr lang="en-US" altLang="zh-CN" sz="1200" dirty="0"/>
              <a:t>						</a:t>
            </a:r>
            <a:r>
              <a:rPr lang="en-US" altLang="zh-CN" sz="1400" dirty="0"/>
              <a:t>      </a:t>
            </a: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/>
              <a:t>项目简介：</a:t>
            </a:r>
            <a:r>
              <a:rPr lang="zh-CN" altLang="en-US" sz="1200" dirty="0"/>
              <a:t>面向 </a:t>
            </a:r>
            <a:r>
              <a:rPr lang="en-US" altLang="zh-CN" sz="1200" dirty="0"/>
              <a:t>LVLM </a:t>
            </a:r>
            <a:r>
              <a:rPr lang="zh-CN" altLang="en-US" sz="1200" dirty="0"/>
              <a:t>细粒度视觉评测问题</a:t>
            </a:r>
            <a:r>
              <a:rPr lang="en-US" altLang="zh-CN" sz="1200" dirty="0"/>
              <a:t>,</a:t>
            </a:r>
            <a:r>
              <a:rPr lang="zh-CN" altLang="en-US" sz="1200" dirty="0"/>
              <a:t>参与 </a:t>
            </a:r>
            <a:r>
              <a:rPr lang="en-US" altLang="zh-CN" sz="1200" dirty="0"/>
              <a:t>FG-BMK benchmark</a:t>
            </a:r>
            <a:r>
              <a:rPr lang="zh-CN" altLang="en-US" sz="1200" dirty="0"/>
              <a:t>的数据集复现</a:t>
            </a:r>
            <a:r>
              <a:rPr lang="en-US" altLang="zh-CN" sz="1200" dirty="0"/>
              <a:t>,</a:t>
            </a:r>
            <a:r>
              <a:rPr lang="zh-CN" altLang="en-US" sz="1200" dirty="0"/>
              <a:t>模型评测结果复现、评测框架配置化重构与开源展示</a:t>
            </a:r>
            <a:r>
              <a:rPr lang="en-US" altLang="zh-CN" sz="1200" dirty="0"/>
              <a:t>;</a:t>
            </a:r>
            <a:r>
              <a:rPr lang="zh-CN" altLang="en-US" sz="1200" dirty="0"/>
              <a:t>进一步围绕 </a:t>
            </a:r>
            <a:r>
              <a:rPr lang="en-US" altLang="zh-CN" sz="1200" dirty="0" err="1"/>
              <a:t>LLaVA</a:t>
            </a:r>
            <a:r>
              <a:rPr lang="en-US" altLang="zh-CN" sz="1200" dirty="0"/>
              <a:t> </a:t>
            </a:r>
            <a:r>
              <a:rPr lang="zh-CN" altLang="en-US" sz="1200" dirty="0"/>
              <a:t>中 </a:t>
            </a:r>
            <a:r>
              <a:rPr lang="en-US" altLang="zh-CN" sz="1200" dirty="0"/>
              <a:t>CLIP visual embeddings</a:t>
            </a:r>
            <a:r>
              <a:rPr lang="zh-CN" altLang="en-US" sz="1200" dirty="0"/>
              <a:t>经 </a:t>
            </a:r>
            <a:r>
              <a:rPr lang="en-US" altLang="zh-CN" sz="1200" dirty="0" err="1"/>
              <a:t>mm_projector</a:t>
            </a:r>
            <a:r>
              <a:rPr lang="en-US" altLang="zh-CN" sz="1200" dirty="0"/>
              <a:t> </a:t>
            </a:r>
            <a:r>
              <a:rPr lang="zh-CN" altLang="en-US" sz="1200" dirty="0"/>
              <a:t>映射到 </a:t>
            </a:r>
            <a:r>
              <a:rPr lang="en-US" altLang="zh-CN" sz="1200" dirty="0"/>
              <a:t>LLM hidden space </a:t>
            </a:r>
            <a:r>
              <a:rPr lang="zh-CN" altLang="en-US" sz="1200" dirty="0"/>
              <a:t>后的表征变化，开展 </a:t>
            </a:r>
            <a:r>
              <a:rPr lang="en-US" altLang="zh-CN" sz="1200" dirty="0"/>
              <a:t>CUB-200-2011 </a:t>
            </a:r>
            <a:r>
              <a:rPr lang="zh-CN" altLang="en-US" sz="1200" dirty="0"/>
              <a:t>上的 </a:t>
            </a:r>
            <a:r>
              <a:rPr lang="en-US" altLang="zh-CN" sz="1200" dirty="0"/>
              <a:t>projector </a:t>
            </a:r>
            <a:r>
              <a:rPr lang="zh-CN" altLang="en-US" sz="1200" dirty="0"/>
              <a:t>前后表示分析与 </a:t>
            </a:r>
            <a:r>
              <a:rPr lang="en-US" altLang="zh-CN" sz="1200" dirty="0"/>
              <a:t>mini patch-alignment </a:t>
            </a:r>
            <a:r>
              <a:rPr lang="zh-CN" altLang="en-US" sz="1200" dirty="0"/>
              <a:t>实验，探究 </a:t>
            </a:r>
            <a:r>
              <a:rPr lang="en-US" altLang="zh-CN" sz="1200" dirty="0"/>
              <a:t>alignment </a:t>
            </a:r>
            <a:r>
              <a:rPr lang="zh-CN" altLang="en-US" sz="1200" dirty="0"/>
              <a:t>对 </a:t>
            </a:r>
            <a:r>
              <a:rPr lang="en-US" altLang="zh-CN" sz="1200" dirty="0"/>
              <a:t>fine-grained discriminability </a:t>
            </a:r>
            <a:r>
              <a:rPr lang="zh-CN" altLang="en-US" sz="1200" dirty="0"/>
              <a:t>的影响。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/>
              <a:t>负责工作：</a:t>
            </a:r>
            <a:endParaRPr lang="zh-CN" altLang="en-US" sz="1200" dirty="0"/>
          </a:p>
          <a:p>
            <a:endParaRPr lang="en-US" altLang="zh-CN" sz="1200" b="1" dirty="0"/>
          </a:p>
          <a:p>
            <a:pPr>
              <a:lnSpc>
                <a:spcPct val="150000"/>
              </a:lnSpc>
            </a:pP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90195" y="1302385"/>
            <a:ext cx="1748155" cy="615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教育背景</a:t>
            </a:r>
          </a:p>
          <a:p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6856" y="2385965"/>
            <a:ext cx="1748155" cy="615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科研经历</a:t>
            </a:r>
          </a:p>
          <a:p>
            <a:r>
              <a:rPr lang="en-US" altLang="zh-CN" b="1" dirty="0">
                <a:latin typeface="+mj-ea"/>
                <a:ea typeface="+mj-ea"/>
              </a:rPr>
              <a:t> 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243205" y="8140142"/>
            <a:ext cx="174815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获奖&amp;成果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243205" y="9360549"/>
            <a:ext cx="1748155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科研技能</a:t>
            </a:r>
          </a:p>
          <a:p>
            <a:endParaRPr lang="zh-CN" altLang="en-US" sz="1600" b="1" dirty="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25750" y="1575435"/>
            <a:ext cx="2519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3" name="图片 2" descr="校标 浅底">
            <a:extLst>
              <a:ext uri="{FF2B5EF4-FFF2-40B4-BE49-F238E27FC236}">
                <a16:creationId xmlns:a16="http://schemas.microsoft.com/office/drawing/2014/main" id="{8153CB72-FA6E-4983-0BAA-B905FC9AE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9" b="15154"/>
          <a:stretch>
            <a:fillRect/>
          </a:stretch>
        </p:blipFill>
        <p:spPr>
          <a:xfrm>
            <a:off x="158750" y="331153"/>
            <a:ext cx="26670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C6FC415-AAE9-56C4-CEFD-B09439381A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526" y="160655"/>
            <a:ext cx="1009834" cy="14141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A4F1FA4-0E67-9F43-B251-DA97BF9964B5}"/>
              </a:ext>
            </a:extLst>
          </p:cNvPr>
          <p:cNvSpPr txBox="1"/>
          <p:nvPr/>
        </p:nvSpPr>
        <p:spPr>
          <a:xfrm>
            <a:off x="440696" y="4021749"/>
            <a:ext cx="6839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评测复现与配置化重构：</a:t>
            </a:r>
            <a:r>
              <a:rPr lang="zh-CN" altLang="en-US" sz="1200" dirty="0"/>
              <a:t>在 </a:t>
            </a:r>
            <a:r>
              <a:rPr lang="en-US" altLang="zh-CN" sz="1200" dirty="0"/>
              <a:t>Linux GPU </a:t>
            </a:r>
            <a:r>
              <a:rPr lang="zh-CN" altLang="en-US" sz="1200" dirty="0"/>
              <a:t>环境下部署 </a:t>
            </a:r>
            <a:r>
              <a:rPr lang="en-US" altLang="zh-CN" sz="1200" dirty="0"/>
              <a:t>FG-BMK </a:t>
            </a:r>
            <a:r>
              <a:rPr lang="zh-CN" altLang="en-US" sz="1200" dirty="0"/>
              <a:t>评测 </a:t>
            </a:r>
            <a:r>
              <a:rPr lang="en-US" altLang="zh-CN" sz="1200" dirty="0"/>
              <a:t>pipeline</a:t>
            </a:r>
            <a:r>
              <a:rPr lang="zh-CN" altLang="en-US" sz="1200" dirty="0"/>
              <a:t>，完成 </a:t>
            </a:r>
            <a:r>
              <a:rPr lang="en-US" altLang="zh-CN" sz="1200" dirty="0" err="1"/>
              <a:t>LLaVA</a:t>
            </a:r>
            <a:r>
              <a:rPr lang="en-US" altLang="zh-CN" sz="1200" dirty="0"/>
              <a:t> </a:t>
            </a:r>
            <a:r>
              <a:rPr lang="zh-CN" altLang="en-US" sz="1200" dirty="0"/>
              <a:t>等 </a:t>
            </a:r>
            <a:r>
              <a:rPr lang="en-US" altLang="zh-CN" sz="1200" dirty="0"/>
              <a:t>LVLM </a:t>
            </a:r>
            <a:r>
              <a:rPr lang="zh-CN" altLang="en-US" sz="1200" dirty="0"/>
              <a:t>在 </a:t>
            </a:r>
            <a:r>
              <a:rPr lang="en-US" altLang="zh-CN" sz="1200" dirty="0"/>
              <a:t>CUB-200-2011 </a:t>
            </a:r>
            <a:r>
              <a:rPr lang="zh-CN" altLang="en-US" sz="1200" dirty="0"/>
              <a:t>等细粒度视觉数据集上的 </a:t>
            </a:r>
            <a:r>
              <a:rPr lang="en-US" altLang="zh-CN" sz="1200" dirty="0"/>
              <a:t>retrieval / classification </a:t>
            </a:r>
            <a:r>
              <a:rPr lang="zh-CN" altLang="en-US" sz="1200" dirty="0"/>
              <a:t>指标复现；对评测代码中的硬编码逻辑进行解耦，将模型、数据集与评测参数抽象为配置文件，提升 </a:t>
            </a:r>
            <a:r>
              <a:rPr lang="en-US" altLang="zh-CN" sz="1200" dirty="0"/>
              <a:t>benchmark </a:t>
            </a:r>
            <a:r>
              <a:rPr lang="zh-CN" altLang="en-US" sz="1200" dirty="0"/>
              <a:t>的可复现性与扩展性。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593223-BAD6-FD3C-7B18-62C2CA328D6A}"/>
              </a:ext>
            </a:extLst>
          </p:cNvPr>
          <p:cNvSpPr txBox="1"/>
          <p:nvPr/>
        </p:nvSpPr>
        <p:spPr>
          <a:xfrm>
            <a:off x="440696" y="4751817"/>
            <a:ext cx="6783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/>
              <a:t>LLaVA</a:t>
            </a:r>
            <a:r>
              <a:rPr lang="en-US" altLang="zh-CN" sz="1200" b="1" dirty="0"/>
              <a:t> Projector </a:t>
            </a:r>
            <a:r>
              <a:rPr lang="zh-CN" altLang="en-US" sz="1200" b="1" dirty="0"/>
              <a:t>表征分析：</a:t>
            </a:r>
            <a:r>
              <a:rPr lang="zh-CN" altLang="en-US" sz="1200" dirty="0"/>
              <a:t>基于 </a:t>
            </a:r>
            <a:r>
              <a:rPr lang="en-US" altLang="zh-CN" sz="1200" dirty="0"/>
              <a:t>LLaVA-1.5-7B </a:t>
            </a:r>
            <a:r>
              <a:rPr lang="zh-CN" altLang="en-US" sz="1200" dirty="0"/>
              <a:t>提取 </a:t>
            </a:r>
            <a:r>
              <a:rPr lang="en-US" altLang="zh-CN" sz="1200" dirty="0"/>
              <a:t>projector </a:t>
            </a:r>
            <a:r>
              <a:rPr lang="zh-CN" altLang="en-US" sz="1200" dirty="0"/>
              <a:t>前后的 </a:t>
            </a:r>
            <a:r>
              <a:rPr lang="en-US" altLang="zh-CN" sz="1200" dirty="0"/>
              <a:t>CLIP-space / LLM-space visual representations</a:t>
            </a:r>
            <a:r>
              <a:rPr lang="zh-CN" altLang="en-US" sz="1200" dirty="0"/>
              <a:t>，在 </a:t>
            </a:r>
            <a:r>
              <a:rPr lang="en-US" altLang="zh-CN" sz="1200" dirty="0"/>
              <a:t>CUB </a:t>
            </a:r>
            <a:r>
              <a:rPr lang="zh-CN" altLang="en-US" sz="1200" dirty="0"/>
              <a:t>全量数据上通过 </a:t>
            </a:r>
            <a:r>
              <a:rPr lang="en-US" altLang="zh-CN" sz="1200" dirty="0" err="1"/>
              <a:t>kNN</a:t>
            </a:r>
            <a:r>
              <a:rPr lang="en-US" altLang="zh-CN" sz="1200" dirty="0"/>
              <a:t> retrieval</a:t>
            </a:r>
            <a:r>
              <a:rPr lang="zh-CN" altLang="en-US" sz="1200" dirty="0"/>
              <a:t>、</a:t>
            </a:r>
            <a:r>
              <a:rPr lang="en-US" altLang="zh-CN" sz="1200" dirty="0"/>
              <a:t>linear probing </a:t>
            </a:r>
            <a:r>
              <a:rPr lang="zh-CN" altLang="en-US" sz="1200" dirty="0"/>
              <a:t>与 </a:t>
            </a:r>
            <a:r>
              <a:rPr lang="en-US" altLang="zh-CN" sz="1200" dirty="0"/>
              <a:t>covariance spectrum entropy </a:t>
            </a:r>
            <a:r>
              <a:rPr lang="zh-CN" altLang="en-US" sz="1200" dirty="0"/>
              <a:t>分析发现，</a:t>
            </a:r>
            <a:r>
              <a:rPr lang="en-US" altLang="zh-CN" sz="1200" dirty="0"/>
              <a:t>projector </a:t>
            </a:r>
            <a:r>
              <a:rPr lang="zh-CN" altLang="en-US" sz="1200" dirty="0"/>
              <a:t>后邻域结构、线性可分性下降，并伴随 </a:t>
            </a:r>
            <a:r>
              <a:rPr lang="en-US" altLang="zh-CN" sz="1200" dirty="0"/>
              <a:t>normalized entropy / effective rank </a:t>
            </a:r>
            <a:r>
              <a:rPr lang="zh-CN" altLang="en-US" sz="1200" dirty="0"/>
              <a:t>降低与谱压缩趋势。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8586B9-9798-1A30-E3C0-F6E4C5E4845D}"/>
              </a:ext>
            </a:extLst>
          </p:cNvPr>
          <p:cNvSpPr txBox="1"/>
          <p:nvPr/>
        </p:nvSpPr>
        <p:spPr>
          <a:xfrm>
            <a:off x="440696" y="5476166"/>
            <a:ext cx="6839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Mini Patch-Alignment </a:t>
            </a:r>
            <a:r>
              <a:rPr lang="zh-CN" altLang="en-US" sz="1200" b="1" dirty="0"/>
              <a:t>改进实验：</a:t>
            </a:r>
            <a:r>
              <a:rPr lang="zh-CN" altLang="en-US" sz="1200" dirty="0"/>
              <a:t>利用 </a:t>
            </a:r>
            <a:r>
              <a:rPr lang="en-US" altLang="zh-CN" sz="1200" dirty="0"/>
              <a:t>CUB part annotations </a:t>
            </a:r>
            <a:r>
              <a:rPr lang="zh-CN" altLang="en-US" sz="1200" dirty="0"/>
              <a:t>构造 </a:t>
            </a:r>
            <a:r>
              <a:rPr lang="en-US" altLang="zh-CN" sz="1200" dirty="0"/>
              <a:t>image–part word–target patch </a:t>
            </a:r>
            <a:r>
              <a:rPr lang="zh-CN" altLang="en-US" sz="1200" dirty="0"/>
              <a:t>局部监督，仅训练 </a:t>
            </a:r>
            <a:r>
              <a:rPr lang="en-US" altLang="zh-CN" sz="1200" dirty="0" err="1"/>
              <a:t>LLaVA</a:t>
            </a:r>
            <a:r>
              <a:rPr lang="en-US" altLang="zh-CN" sz="1200" dirty="0"/>
              <a:t> </a:t>
            </a:r>
            <a:r>
              <a:rPr lang="en-US" altLang="zh-CN" sz="1200" dirty="0" err="1"/>
              <a:t>mm_projector</a:t>
            </a:r>
            <a:r>
              <a:rPr lang="zh-CN" altLang="en-US" sz="1200" dirty="0"/>
              <a:t>，使 </a:t>
            </a:r>
            <a:r>
              <a:rPr lang="en-US" altLang="zh-CN" sz="1200" dirty="0"/>
              <a:t>beak / wing / tail </a:t>
            </a:r>
            <a:r>
              <a:rPr lang="zh-CN" altLang="en-US" sz="1200" dirty="0"/>
              <a:t>等部位词 </a:t>
            </a:r>
            <a:r>
              <a:rPr lang="en-US" altLang="zh-CN" sz="1200" dirty="0"/>
              <a:t>Top-5 patch localization </a:t>
            </a:r>
            <a:r>
              <a:rPr lang="zh-CN" altLang="en-US" sz="1200" dirty="0"/>
              <a:t>显著提升，其中 </a:t>
            </a:r>
            <a:r>
              <a:rPr lang="en-US" altLang="zh-CN" sz="1200" dirty="0"/>
              <a:t>beak Top-5 Hit </a:t>
            </a:r>
            <a:r>
              <a:rPr lang="zh-CN" altLang="en-US" sz="1200" dirty="0"/>
              <a:t>由 </a:t>
            </a:r>
            <a:r>
              <a:rPr lang="en-US" altLang="zh-CN" sz="1200" b="1" dirty="0"/>
              <a:t>3.39%</a:t>
            </a:r>
            <a:r>
              <a:rPr lang="zh-CN" altLang="en-US" sz="1200" dirty="0"/>
              <a:t> 提升至 </a:t>
            </a:r>
            <a:r>
              <a:rPr lang="en-US" altLang="zh-CN" sz="1200" b="1" dirty="0"/>
              <a:t>99.44%</a:t>
            </a:r>
            <a:r>
              <a:rPr lang="zh-CN" altLang="en-US" sz="1200" dirty="0"/>
              <a:t>；并通过 </a:t>
            </a:r>
            <a:r>
              <a:rPr lang="en-US" altLang="zh-CN" sz="1200" dirty="0"/>
              <a:t>retrieval / linear probe / entropy </a:t>
            </a:r>
            <a:r>
              <a:rPr lang="zh-CN" altLang="en-US" sz="1200" dirty="0"/>
              <a:t>检查验证整图级表征基本保持。</a:t>
            </a:r>
          </a:p>
          <a:p>
            <a:endParaRPr lang="en-US" altLang="zh-CN" sz="1200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7A10FC6-11AA-B011-EB62-0847B0336528}"/>
              </a:ext>
            </a:extLst>
          </p:cNvPr>
          <p:cNvSpPr txBox="1"/>
          <p:nvPr/>
        </p:nvSpPr>
        <p:spPr>
          <a:xfrm>
            <a:off x="274955" y="6223875"/>
            <a:ext cx="7185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2. </a:t>
            </a:r>
            <a:r>
              <a:rPr lang="zh-CN" altLang="zh-CN" sz="1400" b="1" dirty="0"/>
              <a:t>高速卡口场景下大型货车检测与疑似超载风险分析平台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731C34-218F-A883-6EF3-451537CF2709}"/>
              </a:ext>
            </a:extLst>
          </p:cNvPr>
          <p:cNvSpPr txBox="1"/>
          <p:nvPr/>
        </p:nvSpPr>
        <p:spPr>
          <a:xfrm>
            <a:off x="265426" y="6477986"/>
            <a:ext cx="7082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/>
              <a:t>项目简介：</a:t>
            </a:r>
            <a:r>
              <a:rPr lang="zh-CN" altLang="zh-CN" sz="1200" dirty="0"/>
              <a:t>面向高速道路与卡口监控场景，基于 YOLOv8 构建大型货车 / 渣土车检测流程，完成数据整理、标注格式转换、训练集 / 验证集划分和 baseline 训练，实现对监控图像中重点货运车辆的位置、类别和置信度识别。</a:t>
            </a:r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B15EBA-6E7A-5489-82FF-09DF86CFF1F1}"/>
              </a:ext>
            </a:extLst>
          </p:cNvPr>
          <p:cNvSpPr txBox="1"/>
          <p:nvPr/>
        </p:nvSpPr>
        <p:spPr>
          <a:xfrm>
            <a:off x="276764" y="7043485"/>
            <a:ext cx="7077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zh-CN" sz="1200" dirty="0"/>
              <a:t>构建复杂场景鲁棒性测试流程，覆盖斜视角拍摄、夜间、雨雾、低照度、运动模糊、遮挡和远距离小目标等场景退化，对比 mAP50、Recall、per-class AP 等指标变化，并整理误检、漏检、定位偏移和类别混淆等 failure cases。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zh-CN" sz="1200" dirty="0"/>
              <a:t>搭建 Vue + FastAPI 前后端分离的车辆智能识别检测平台，封装 YOLOv8 推理服务，实现图片上传、检测框可视化、车辆类别与置信度展示、坐标表和推理记录归档；预留车牌识别、货箱区域分析和疑似超载检测模块接口，为后续超载风险提示和人工复核提供基础。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2DCB67-6613-F05A-DA01-36C60C0213B4}"/>
              </a:ext>
            </a:extLst>
          </p:cNvPr>
          <p:cNvSpPr txBox="1"/>
          <p:nvPr/>
        </p:nvSpPr>
        <p:spPr>
          <a:xfrm>
            <a:off x="275586" y="8448339"/>
            <a:ext cx="6840220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第十六届</a:t>
            </a:r>
            <a:r>
              <a:rPr lang="en-US" altLang="zh-CN" sz="12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Mathorcup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数学建模挑战赛                                         国家二等奖           第一排位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第十五届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APMCM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亚太地区数学建模竞赛               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省级二等奖    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第一排位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第十六届全国大学生数学竞赛非数学类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江苏赛区）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省级二等奖 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第一排位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校级一等奖学金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二等奖学金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校级三好学生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优秀共青团员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优秀共青团员标兵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7CE238-BB61-66F9-E2B4-AB49791538F0}"/>
              </a:ext>
            </a:extLst>
          </p:cNvPr>
          <p:cNvSpPr txBox="1"/>
          <p:nvPr/>
        </p:nvSpPr>
        <p:spPr>
          <a:xfrm>
            <a:off x="265426" y="9710256"/>
            <a:ext cx="7185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/>
              <a:t>开发语言</a:t>
            </a:r>
            <a:r>
              <a:rPr lang="zh-CN" altLang="en-US" sz="1200" dirty="0"/>
              <a:t>：熟悉 </a:t>
            </a:r>
            <a:r>
              <a:rPr lang="en-US" altLang="zh-CN" sz="1200" dirty="0"/>
              <a:t>Python / C++</a:t>
            </a:r>
            <a:r>
              <a:rPr lang="zh-CN" altLang="en-US" sz="1200" dirty="0"/>
              <a:t>，具备数据结构与算法基础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200" b="1" dirty="0"/>
              <a:t>AI</a:t>
            </a:r>
            <a:r>
              <a:rPr lang="zh-CN" altLang="en-US" sz="1200" b="1" dirty="0"/>
              <a:t>工程环境</a:t>
            </a:r>
            <a:r>
              <a:rPr lang="zh-CN" altLang="en-US" sz="1200" dirty="0"/>
              <a:t>：熟练掌握</a:t>
            </a:r>
            <a:r>
              <a:rPr lang="en-US" altLang="zh-CN" sz="1200" dirty="0"/>
              <a:t>Linux</a:t>
            </a:r>
            <a:r>
              <a:rPr lang="zh-CN" altLang="en-US" sz="1200" dirty="0"/>
              <a:t>系统基础与服务器操作；熟悉 </a:t>
            </a:r>
            <a:r>
              <a:rPr lang="en-US" altLang="zh-CN" sz="1200" dirty="0"/>
              <a:t>Conda</a:t>
            </a:r>
            <a:r>
              <a:rPr lang="zh-CN" altLang="en-US" sz="1200" dirty="0"/>
              <a:t>、</a:t>
            </a:r>
            <a:r>
              <a:rPr lang="en-US" altLang="zh-CN" sz="1200" dirty="0"/>
              <a:t>Git</a:t>
            </a:r>
            <a:r>
              <a:rPr lang="zh-CN" altLang="en-US" sz="1200" dirty="0"/>
              <a:t>、</a:t>
            </a:r>
            <a:r>
              <a:rPr lang="en-US" altLang="zh-CN" sz="1200" dirty="0"/>
              <a:t>Hugging Face</a:t>
            </a:r>
            <a:r>
              <a:rPr lang="zh-CN" altLang="en-US" sz="1200" dirty="0"/>
              <a:t>；熟练使用</a:t>
            </a:r>
            <a:r>
              <a:rPr lang="en-US" altLang="zh-CN" sz="1200" dirty="0"/>
              <a:t>Conda</a:t>
            </a:r>
            <a:r>
              <a:rPr lang="zh-CN" altLang="en-US" sz="1200" dirty="0"/>
              <a:t>进行虚拟环境隔离与包依赖管理。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/>
              <a:t>多模态与视觉相关</a:t>
            </a:r>
            <a:r>
              <a:rPr lang="zh-CN" altLang="en-US" sz="1200" dirty="0"/>
              <a:t>：理解 </a:t>
            </a:r>
            <a:r>
              <a:rPr lang="en-US" altLang="zh-CN" sz="1200" dirty="0"/>
              <a:t>Transformer / </a:t>
            </a:r>
            <a:r>
              <a:rPr lang="en-US" altLang="zh-CN" sz="1200" dirty="0" err="1"/>
              <a:t>ViT</a:t>
            </a:r>
            <a:r>
              <a:rPr lang="en-US" altLang="zh-CN" sz="1200" dirty="0"/>
              <a:t> / CLIP / </a:t>
            </a:r>
            <a:r>
              <a:rPr lang="en-US" altLang="zh-CN" sz="1200" dirty="0" err="1"/>
              <a:t>LLaVA</a:t>
            </a:r>
            <a:r>
              <a:rPr lang="en-US" altLang="zh-CN" sz="1200" dirty="0"/>
              <a:t> </a:t>
            </a:r>
            <a:r>
              <a:rPr lang="zh-CN" altLang="en-US" sz="1200" dirty="0"/>
              <a:t>基本数据流；了解 </a:t>
            </a:r>
            <a:r>
              <a:rPr lang="en-US" altLang="zh-CN" sz="1200" dirty="0"/>
              <a:t>LVLM </a:t>
            </a:r>
            <a:r>
              <a:rPr lang="zh-CN" altLang="en-US" sz="1200" dirty="0"/>
              <a:t>评测流程、</a:t>
            </a:r>
            <a:r>
              <a:rPr lang="en-US" altLang="zh-CN" sz="1200" dirty="0"/>
              <a:t>representation learning</a:t>
            </a:r>
            <a:r>
              <a:rPr lang="zh-CN" altLang="en-US" sz="1200" dirty="0"/>
              <a:t>、</a:t>
            </a:r>
            <a:r>
              <a:rPr lang="en-US" altLang="zh-CN" sz="1200" dirty="0"/>
              <a:t>retrieval/classification </a:t>
            </a:r>
            <a:r>
              <a:rPr lang="zh-CN" altLang="en-US" sz="1200" dirty="0"/>
              <a:t>区别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B81DA6-4CB8-D074-0EDA-060B77E788E9}"/>
              </a:ext>
            </a:extLst>
          </p:cNvPr>
          <p:cNvSpPr txBox="1"/>
          <p:nvPr/>
        </p:nvSpPr>
        <p:spPr>
          <a:xfrm>
            <a:off x="5989955" y="6256179"/>
            <a:ext cx="225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 </a:t>
            </a:r>
            <a:r>
              <a: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2025.12 - </a:t>
            </a:r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至今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89E8E4-BC2E-FE98-672A-EF88AE90598B}"/>
              </a:ext>
            </a:extLst>
          </p:cNvPr>
          <p:cNvSpPr txBox="1"/>
          <p:nvPr/>
        </p:nvSpPr>
        <p:spPr>
          <a:xfrm>
            <a:off x="2083885" y="1303853"/>
            <a:ext cx="5702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18392659283   | 18392659283@163.com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474835-1D6E-2CFD-03E2-E424C438072D}"/>
              </a:ext>
            </a:extLst>
          </p:cNvPr>
          <p:cNvSpPr txBox="1"/>
          <p:nvPr/>
        </p:nvSpPr>
        <p:spPr>
          <a:xfrm>
            <a:off x="3114675" y="673952"/>
            <a:ext cx="2978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楷体" panose="02010609060101010101" charset="-122"/>
                <a:ea typeface="楷体" panose="02010609060101010101" charset="-122"/>
              </a:rPr>
              <a:t>康思源</a:t>
            </a:r>
            <a:endParaRPr lang="en-US" altLang="zh-CN" b="1" dirty="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FE2A8A-C558-25A4-910F-1AC79D75C40A}"/>
              </a:ext>
            </a:extLst>
          </p:cNvPr>
          <p:cNvSpPr txBox="1"/>
          <p:nvPr/>
        </p:nvSpPr>
        <p:spPr>
          <a:xfrm>
            <a:off x="5801995" y="2893589"/>
            <a:ext cx="225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 </a:t>
            </a:r>
            <a:r>
              <a: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2026.2 – 2026.5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AE1FFC-C321-F0D1-4767-EEA83B7CD892}"/>
              </a:ext>
            </a:extLst>
          </p:cNvPr>
          <p:cNvSpPr/>
          <p:nvPr/>
        </p:nvSpPr>
        <p:spPr>
          <a:xfrm>
            <a:off x="0" y="0"/>
            <a:ext cx="114300" cy="10691813"/>
          </a:xfrm>
          <a:prstGeom prst="rect">
            <a:avLst/>
          </a:prstGeom>
          <a:solidFill>
            <a:srgbClr val="5C20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9E6AB9-E868-07F3-8067-B4F15C39269C}"/>
              </a:ext>
            </a:extLst>
          </p:cNvPr>
          <p:cNvSpPr/>
          <p:nvPr/>
        </p:nvSpPr>
        <p:spPr>
          <a:xfrm>
            <a:off x="356241" y="3155321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84E824-2A15-FDFD-84D7-09ADD35C8E52}"/>
              </a:ext>
            </a:extLst>
          </p:cNvPr>
          <p:cNvSpPr/>
          <p:nvPr/>
        </p:nvSpPr>
        <p:spPr>
          <a:xfrm flipV="1">
            <a:off x="368940" y="1623195"/>
            <a:ext cx="6854826" cy="48199"/>
          </a:xfrm>
          <a:prstGeom prst="rect">
            <a:avLst/>
          </a:prstGeom>
          <a:solidFill>
            <a:srgbClr val="5C20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BE5847-3DCA-0581-34F8-5213DB4BF8FB}"/>
              </a:ext>
            </a:extLst>
          </p:cNvPr>
          <p:cNvSpPr/>
          <p:nvPr/>
        </p:nvSpPr>
        <p:spPr>
          <a:xfrm flipV="1">
            <a:off x="356241" y="2664006"/>
            <a:ext cx="6854826" cy="48199"/>
          </a:xfrm>
          <a:prstGeom prst="rect">
            <a:avLst/>
          </a:prstGeom>
          <a:solidFill>
            <a:srgbClr val="5C20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09BAA2E-9E83-A055-C396-17B73D449BF3}"/>
              </a:ext>
            </a:extLst>
          </p:cNvPr>
          <p:cNvSpPr/>
          <p:nvPr/>
        </p:nvSpPr>
        <p:spPr>
          <a:xfrm>
            <a:off x="356241" y="3886973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397FEB4-89F3-2BA9-EE61-880C8AFA0169}"/>
              </a:ext>
            </a:extLst>
          </p:cNvPr>
          <p:cNvSpPr/>
          <p:nvPr/>
        </p:nvSpPr>
        <p:spPr>
          <a:xfrm>
            <a:off x="356241" y="6540257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61E384-BD2B-B40B-C3E3-31EF91ABCCBB}"/>
              </a:ext>
            </a:extLst>
          </p:cNvPr>
          <p:cNvSpPr/>
          <p:nvPr/>
        </p:nvSpPr>
        <p:spPr>
          <a:xfrm>
            <a:off x="351149" y="7104832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D59AC3-6D85-3578-DB3C-4B73FBACAA1C}"/>
              </a:ext>
            </a:extLst>
          </p:cNvPr>
          <p:cNvSpPr/>
          <p:nvPr/>
        </p:nvSpPr>
        <p:spPr>
          <a:xfrm>
            <a:off x="351149" y="7661225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7F948FC-7D35-1898-42E3-74920C771BFA}"/>
              </a:ext>
            </a:extLst>
          </p:cNvPr>
          <p:cNvSpPr/>
          <p:nvPr/>
        </p:nvSpPr>
        <p:spPr>
          <a:xfrm flipV="1">
            <a:off x="351149" y="8438705"/>
            <a:ext cx="6854826" cy="48199"/>
          </a:xfrm>
          <a:prstGeom prst="rect">
            <a:avLst/>
          </a:prstGeom>
          <a:solidFill>
            <a:srgbClr val="5C20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0B89E8-4BD3-9CFD-219D-0FDE6A77FD9D}"/>
              </a:ext>
            </a:extLst>
          </p:cNvPr>
          <p:cNvSpPr/>
          <p:nvPr/>
        </p:nvSpPr>
        <p:spPr>
          <a:xfrm flipV="1">
            <a:off x="343534" y="9652933"/>
            <a:ext cx="6854826" cy="48199"/>
          </a:xfrm>
          <a:prstGeom prst="rect">
            <a:avLst/>
          </a:prstGeom>
          <a:solidFill>
            <a:srgbClr val="5C20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7659D64-C3A5-60F3-C533-8D57E3FA8676}"/>
              </a:ext>
            </a:extLst>
          </p:cNvPr>
          <p:cNvSpPr/>
          <p:nvPr/>
        </p:nvSpPr>
        <p:spPr>
          <a:xfrm>
            <a:off x="351149" y="8538897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275A3CA-AD43-B2FB-2AE6-9B33675C774C}"/>
              </a:ext>
            </a:extLst>
          </p:cNvPr>
          <p:cNvSpPr/>
          <p:nvPr/>
        </p:nvSpPr>
        <p:spPr>
          <a:xfrm>
            <a:off x="349885" y="8768202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7F983D6-33C1-F45E-D53B-52335452AA29}"/>
              </a:ext>
            </a:extLst>
          </p:cNvPr>
          <p:cNvSpPr/>
          <p:nvPr/>
        </p:nvSpPr>
        <p:spPr>
          <a:xfrm>
            <a:off x="349885" y="8986099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D5F23C7-6C37-7419-513F-CC9C289372EB}"/>
              </a:ext>
            </a:extLst>
          </p:cNvPr>
          <p:cNvSpPr/>
          <p:nvPr/>
        </p:nvSpPr>
        <p:spPr>
          <a:xfrm>
            <a:off x="349885" y="9216105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60DC4BD-D8D3-6048-8CDF-6080C6BF92C5}"/>
              </a:ext>
            </a:extLst>
          </p:cNvPr>
          <p:cNvSpPr/>
          <p:nvPr/>
        </p:nvSpPr>
        <p:spPr>
          <a:xfrm>
            <a:off x="349885" y="9757989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6522EBC-C995-46A0-A01B-F9037F28532A}"/>
              </a:ext>
            </a:extLst>
          </p:cNvPr>
          <p:cNvSpPr/>
          <p:nvPr/>
        </p:nvSpPr>
        <p:spPr>
          <a:xfrm>
            <a:off x="343534" y="9968586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0A6887-E8D6-9A75-CB02-1C5B7FDC3A48}"/>
              </a:ext>
            </a:extLst>
          </p:cNvPr>
          <p:cNvSpPr/>
          <p:nvPr/>
        </p:nvSpPr>
        <p:spPr>
          <a:xfrm>
            <a:off x="343534" y="10303053"/>
            <a:ext cx="139706" cy="139706"/>
          </a:xfrm>
          <a:prstGeom prst="rect">
            <a:avLst/>
          </a:prstGeom>
          <a:solidFill>
            <a:srgbClr val="9744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EzZjJkY2M4ZmQwODk1NjRmY2ZhMGJmMWRjMTVlZTIifQ=="/>
  <p:tag name="KSO_WPP_MARK_KEY" val="a22dfcb7-e577-4515-9c93-37675ad7b5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3319</TotalTime>
  <Words>735</Words>
  <Application>Microsoft Office PowerPoint</Application>
  <PresentationFormat>自定义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黑体</vt:lpstr>
      <vt:lpstr>楷体</vt:lpstr>
      <vt:lpstr>微软雅黑</vt:lpstr>
      <vt:lpstr>Arial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sy K</cp:lastModifiedBy>
  <cp:revision>266</cp:revision>
  <dcterms:created xsi:type="dcterms:W3CDTF">2019-06-19T02:08:00Z</dcterms:created>
  <dcterms:modified xsi:type="dcterms:W3CDTF">2026-06-11T04:22:30Z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C42D6D1A60AF4874A50820DBC8523BF9</vt:lpwstr>
  </property>
</Properties>
</file>